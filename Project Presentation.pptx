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Play"/>
      <p:regular r:id="rId22"/>
      <p:bold r:id="rId23"/>
    </p:embeddedFont>
    <p:embeddedFont>
      <p:font typeface="Playfair Display"/>
      <p:regular r:id="rId24"/>
      <p:bold r:id="rId25"/>
      <p:italic r:id="rId26"/>
      <p:boldItalic r:id="rId27"/>
    </p:embeddedFont>
    <p:embeddedFont>
      <p:font typeface="Josefin Sans Medium"/>
      <p:regular r:id="rId28"/>
      <p:bold r:id="rId29"/>
      <p:italic r:id="rId30"/>
      <p:boldItalic r:id="rId31"/>
    </p:embeddedFont>
    <p:embeddedFont>
      <p:font typeface="Josefin Sans"/>
      <p:regular r:id="rId32"/>
      <p:bold r:id="rId33"/>
      <p:italic r:id="rId34"/>
      <p:boldItalic r:id="rId35"/>
    </p:embeddedFont>
    <p:embeddedFont>
      <p:font typeface="Playfair Display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lay-regular.fntdata"/><Relationship Id="rId21" Type="http://schemas.openxmlformats.org/officeDocument/2006/relationships/slide" Target="slides/slide17.xml"/><Relationship Id="rId24" Type="http://schemas.openxmlformats.org/officeDocument/2006/relationships/font" Target="fonts/PlayfairDisplay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JosefinSansMedium-regular.fntdata"/><Relationship Id="rId27" Type="http://schemas.openxmlformats.org/officeDocument/2006/relationships/font" Target="fonts/PlayfairDisplay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JosefinSans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JosefinSansMedium-boldItalic.fntdata"/><Relationship Id="rId30" Type="http://schemas.openxmlformats.org/officeDocument/2006/relationships/font" Target="fonts/JosefinSansMedium-italic.fntdata"/><Relationship Id="rId11" Type="http://schemas.openxmlformats.org/officeDocument/2006/relationships/slide" Target="slides/slide7.xml"/><Relationship Id="rId33" Type="http://schemas.openxmlformats.org/officeDocument/2006/relationships/font" Target="fonts/JosefinSans-bold.fntdata"/><Relationship Id="rId10" Type="http://schemas.openxmlformats.org/officeDocument/2006/relationships/slide" Target="slides/slide6.xml"/><Relationship Id="rId32" Type="http://schemas.openxmlformats.org/officeDocument/2006/relationships/font" Target="fonts/JosefinSans-regular.fntdata"/><Relationship Id="rId13" Type="http://schemas.openxmlformats.org/officeDocument/2006/relationships/slide" Target="slides/slide9.xml"/><Relationship Id="rId35" Type="http://schemas.openxmlformats.org/officeDocument/2006/relationships/font" Target="fonts/JosefinSans-boldItalic.fntdata"/><Relationship Id="rId12" Type="http://schemas.openxmlformats.org/officeDocument/2006/relationships/slide" Target="slides/slide8.xml"/><Relationship Id="rId34" Type="http://schemas.openxmlformats.org/officeDocument/2006/relationships/font" Target="fonts/JosefinSans-italic.fntdata"/><Relationship Id="rId15" Type="http://schemas.openxmlformats.org/officeDocument/2006/relationships/slide" Target="slides/slide11.xml"/><Relationship Id="rId37" Type="http://schemas.openxmlformats.org/officeDocument/2006/relationships/font" Target="fonts/PlayfairDisplaySemiBold-bold.fntdata"/><Relationship Id="rId14" Type="http://schemas.openxmlformats.org/officeDocument/2006/relationships/slide" Target="slides/slide10.xml"/><Relationship Id="rId36" Type="http://schemas.openxmlformats.org/officeDocument/2006/relationships/font" Target="fonts/PlayfairDisplaySemiBold-regular.fntdata"/><Relationship Id="rId17" Type="http://schemas.openxmlformats.org/officeDocument/2006/relationships/slide" Target="slides/slide13.xml"/><Relationship Id="rId39" Type="http://schemas.openxmlformats.org/officeDocument/2006/relationships/font" Target="fonts/PlayfairDisplaySemiBold-boldItalic.fntdata"/><Relationship Id="rId16" Type="http://schemas.openxmlformats.org/officeDocument/2006/relationships/slide" Target="slides/slide12.xml"/><Relationship Id="rId38" Type="http://schemas.openxmlformats.org/officeDocument/2006/relationships/font" Target="fonts/PlayfairDisplaySemiBold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f93f27d3a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af93f27d3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Change in hypothesis. Because of some output being aligned to the user emotion and intent, what should be the </a:t>
            </a:r>
            <a:r>
              <a:rPr lang="en-US"/>
              <a:t>hypothesis</a:t>
            </a:r>
            <a:r>
              <a:rPr lang="en-US"/>
              <a:t> or potential outcome that we are trying to </a:t>
            </a:r>
            <a:r>
              <a:rPr lang="en-US"/>
              <a:t>achieve</a:t>
            </a:r>
            <a:r>
              <a:rPr lang="en-US"/>
              <a:t>. talk about affective computing by paul ricard picard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a7ba971b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4a7ba971b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be3de3d2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 Emotion: Feeling anxious and stressed due to ongoing job search. Feeling scared about the future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 intent: Wants to cry out </a:t>
            </a:r>
            <a:r>
              <a:rPr lang="en-US"/>
              <a:t>loud</a:t>
            </a:r>
            <a:r>
              <a:rPr lang="en-US"/>
              <a:t> and scream into the void.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 captures some </a:t>
            </a:r>
            <a:r>
              <a:rPr lang="en-US"/>
              <a:t>elements</a:t>
            </a:r>
            <a:r>
              <a:rPr lang="en-US"/>
              <a:t> of anxiousness and fear, with ominous audio and abstract visuals</a:t>
            </a:r>
            <a:endParaRPr/>
          </a:p>
        </p:txBody>
      </p:sp>
      <p:sp>
        <p:nvSpPr>
          <p:cNvPr id="203" name="Google Shape;203;g34be3de3d2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be3de3d2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Initial </a:t>
            </a:r>
            <a:r>
              <a:rPr lang="en-US">
                <a:solidFill>
                  <a:schemeClr val="dk1"/>
                </a:solidFill>
              </a:rPr>
              <a:t>Input Emotion: Feeling frustrated and overwhelmed due to ongoing conflicts in work.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Initial Input intent: Wants to vent out the anger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Initial Output: Aligned more towards positive high energy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Feedback input: User does not like this as he feels its not aligned towards his intent.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Feedback output: Heavy metal music (lol) and aggressive visuals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5" name="Google Shape;215;g34be3de3d20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4be3de3d2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 Emotion: Dejected and frustrated, causing low levels of productivity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 intent: Want to feel positive and calm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Output: Uses positive music and </a:t>
            </a:r>
            <a:r>
              <a:rPr lang="en-US"/>
              <a:t>pastel</a:t>
            </a:r>
            <a:r>
              <a:rPr lang="en-US"/>
              <a:t> color </a:t>
            </a:r>
            <a:r>
              <a:rPr lang="en-US"/>
              <a:t>palettes</a:t>
            </a:r>
            <a:endParaRPr/>
          </a:p>
        </p:txBody>
      </p:sp>
      <p:sp>
        <p:nvSpPr>
          <p:cNvPr id="228" name="Google Shape;228;g34be3de3d20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23d5b269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523d5b269f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db2823f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4db2823ff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4be3de3d2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4be3de3d20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frontiersin.org/journals/psychology/articles/10.3389/fpsyg.2014.01351/full?utm_source=chatgpt.com" TargetMode="External"/><Relationship Id="rId4" Type="http://schemas.openxmlformats.org/officeDocument/2006/relationships/hyperlink" Target="https://arxiv.org/html/2409.07827v1" TargetMode="External"/><Relationship Id="rId5" Type="http://schemas.openxmlformats.org/officeDocument/2006/relationships/hyperlink" Target="https://arxiv.org/abs/2304.08551?utm_source=chatgpt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gif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youtube.com/watch?v=jDh-97PKf-g" TargetMode="External"/><Relationship Id="rId4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XiiXxGKiMjY" TargetMode="External"/><Relationship Id="rId4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youtube.com/watch?v=ann_1mOyzaw" TargetMode="External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QTdg0ZuE2k6t2PSBiXTH-yGHW_1VKqWt/view" TargetMode="External"/><Relationship Id="rId4" Type="http://schemas.openxmlformats.org/officeDocument/2006/relationships/image" Target="../media/image12.jpg"/><Relationship Id="rId9" Type="http://schemas.openxmlformats.org/officeDocument/2006/relationships/hyperlink" Target="http://www.youtube.com/watch?v=75xuLgsyzOM" TargetMode="External"/><Relationship Id="rId5" Type="http://schemas.openxmlformats.org/officeDocument/2006/relationships/hyperlink" Target="http://www.youtube.com/watch?v=Vz14GaXR7AE" TargetMode="External"/><Relationship Id="rId6" Type="http://schemas.openxmlformats.org/officeDocument/2006/relationships/image" Target="../media/image19.jpg"/><Relationship Id="rId7" Type="http://schemas.openxmlformats.org/officeDocument/2006/relationships/hyperlink" Target="http://www.youtube.com/watch?v=L_fuUXUeV-4" TargetMode="External"/><Relationship Id="rId8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547812"/>
            <a:ext cx="9144000" cy="1843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>
                <a:latin typeface="Playfair Display"/>
                <a:ea typeface="Playfair Display"/>
                <a:cs typeface="Playfair Display"/>
                <a:sym typeface="Playfair Display"/>
              </a:rPr>
              <a:t>Emotion-Driven </a:t>
            </a:r>
            <a:br>
              <a:rPr b="1" lang="en-US"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lang="en-US">
                <a:latin typeface="Playfair Display"/>
                <a:ea typeface="Playfair Display"/>
                <a:cs typeface="Playfair Display"/>
                <a:sym typeface="Playfair Display"/>
              </a:rPr>
              <a:t>Audio-Visual Experience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54425"/>
            <a:ext cx="9144000" cy="184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>
                <a:latin typeface="Playfair Display"/>
                <a:ea typeface="Playfair Display"/>
                <a:cs typeface="Playfair Display"/>
                <a:sym typeface="Playfair Display"/>
              </a:rPr>
              <a:t>Reality Architects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Josefin Sans"/>
                <a:ea typeface="Josefin Sans"/>
                <a:cs typeface="Josefin Sans"/>
                <a:sym typeface="Josefin Sans"/>
              </a:rPr>
              <a:t>Aditya Vikram Singh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Josefin Sans"/>
                <a:ea typeface="Josefin Sans"/>
                <a:cs typeface="Josefin Sans"/>
                <a:sym typeface="Josefin Sans"/>
              </a:rPr>
              <a:t>Ankit Gundewar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Josefin Sans"/>
                <a:ea typeface="Josefin Sans"/>
                <a:cs typeface="Josefin Sans"/>
                <a:sym typeface="Josefin Sans"/>
              </a:rPr>
              <a:t>Shishir Kallapur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Josefin Sans"/>
                <a:ea typeface="Josefin Sans"/>
                <a:cs typeface="Josefin Sans"/>
                <a:sym typeface="Josefin Sans"/>
              </a:rPr>
              <a:t>Yifan Tang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04850" y="291068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87" name="Google Shape;87;p13"/>
          <p:cNvCxnSpPr/>
          <p:nvPr/>
        </p:nvCxnSpPr>
        <p:spPr>
          <a:xfrm>
            <a:off x="806450" y="60706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806450" y="6604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" name="Google Shape;89;p13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</a:t>
            </a: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Project Presentation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06450" y="6320423"/>
            <a:ext cx="10579100" cy="338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704850" y="291068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96" name="Google Shape;96;p14"/>
          <p:cNvCxnSpPr/>
          <p:nvPr/>
        </p:nvCxnSpPr>
        <p:spPr>
          <a:xfrm>
            <a:off x="806450" y="60706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14"/>
          <p:cNvCxnSpPr/>
          <p:nvPr/>
        </p:nvCxnSpPr>
        <p:spPr>
          <a:xfrm>
            <a:off x="806450" y="6604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4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 Presentation</a:t>
            </a:r>
            <a:endParaRPr sz="16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445000" y="6320423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00" name="Google Shape;100;p14"/>
          <p:cNvSpPr txBox="1"/>
          <p:nvPr>
            <p:ph type="ctrTitle"/>
          </p:nvPr>
        </p:nvSpPr>
        <p:spPr>
          <a:xfrm>
            <a:off x="1524000" y="984249"/>
            <a:ext cx="9144000" cy="1068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1" name="Google Shape;101;p14"/>
          <p:cNvSpPr txBox="1"/>
          <p:nvPr>
            <p:ph idx="1" type="subTitle"/>
          </p:nvPr>
        </p:nvSpPr>
        <p:spPr>
          <a:xfrm>
            <a:off x="1066800" y="2654298"/>
            <a:ext cx="4572000" cy="3219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Issue</a:t>
            </a:r>
            <a:endParaRPr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>
                <a:latin typeface="Josefin Sans"/>
                <a:ea typeface="Josefin Sans"/>
                <a:cs typeface="Josefin Sans"/>
                <a:sym typeface="Josefin Sans"/>
              </a:rPr>
              <a:t>Current multimedia experiences are static and do not adapt to a user’s emotions in real-time.</a:t>
            </a:r>
            <a:endParaRPr/>
          </a:p>
          <a:p>
            <a:pPr indent="-31686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6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>
                <a:latin typeface="Josefin Sans"/>
                <a:ea typeface="Josefin Sans"/>
                <a:cs typeface="Josefin Sans"/>
                <a:sym typeface="Josefin Sans"/>
              </a:rPr>
              <a:t>Lack of seamless integration of AI-generated audio and visual content based on user mood and input.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53202" y="2652125"/>
            <a:ext cx="4572000" cy="3219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Why it Matters</a:t>
            </a:r>
            <a:endParaRPr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Enhancing human-computer interaction through AI-driven emotional experiences.</a:t>
            </a:r>
            <a:endParaRPr/>
          </a:p>
          <a:p>
            <a:pPr indent="-304482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Potential applications in entertainment, therapy, meditation, and personalized media.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6450" y="6320423"/>
            <a:ext cx="10579100" cy="338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704850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109" name="Google Shape;109;p15"/>
          <p:cNvCxnSpPr/>
          <p:nvPr/>
        </p:nvCxnSpPr>
        <p:spPr>
          <a:xfrm>
            <a:off x="806450" y="60706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5"/>
          <p:cNvCxnSpPr/>
          <p:nvPr/>
        </p:nvCxnSpPr>
        <p:spPr>
          <a:xfrm>
            <a:off x="806450" y="6604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15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 Presentation</a:t>
            </a:r>
            <a:endParaRPr sz="16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12" name="Google Shape;112;p15"/>
          <p:cNvSpPr txBox="1"/>
          <p:nvPr>
            <p:ph type="ctrTitle"/>
          </p:nvPr>
        </p:nvSpPr>
        <p:spPr>
          <a:xfrm>
            <a:off x="1524000" y="801832"/>
            <a:ext cx="91440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3600">
                <a:latin typeface="Playfair Display"/>
                <a:ea typeface="Playfair Display"/>
                <a:cs typeface="Playfair Display"/>
                <a:sym typeface="Playfair Display"/>
              </a:rPr>
              <a:t>Goal of the Project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06450" y="1494414"/>
            <a:ext cx="10579200" cy="4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To develop an AI system that generates personalized, immersive audio-visual experiences by understanding the emotional state and intent of the user based on the input provided.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Key Features:</a:t>
            </a:r>
            <a:endParaRPr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482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Generating music and visuals to align with user’s mood and intent.</a:t>
            </a:r>
            <a:endParaRPr sz="2400"/>
          </a:p>
          <a:p>
            <a:pPr indent="-482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Real-time interaction and enhancements with the environment via webcam and hand gestures.</a:t>
            </a:r>
            <a:endParaRPr sz="2400"/>
          </a:p>
          <a:p>
            <a:pPr indent="-482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Iterative feedback loop to tune experience.</a:t>
            </a:r>
            <a:endParaRPr sz="2400"/>
          </a:p>
        </p:txBody>
      </p:sp>
      <p:sp>
        <p:nvSpPr>
          <p:cNvPr id="114" name="Google Shape;114;p15"/>
          <p:cNvSpPr txBox="1"/>
          <p:nvPr/>
        </p:nvSpPr>
        <p:spPr>
          <a:xfrm>
            <a:off x="806450" y="6320423"/>
            <a:ext cx="10579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/>
        </p:nvSpPr>
        <p:spPr>
          <a:xfrm>
            <a:off x="704850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120" name="Google Shape;120;p16"/>
          <p:cNvCxnSpPr/>
          <p:nvPr/>
        </p:nvCxnSpPr>
        <p:spPr>
          <a:xfrm>
            <a:off x="806450" y="60706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" name="Google Shape;121;p16"/>
          <p:cNvCxnSpPr/>
          <p:nvPr/>
        </p:nvCxnSpPr>
        <p:spPr>
          <a:xfrm>
            <a:off x="806450" y="6604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16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 Presentation</a:t>
            </a:r>
            <a:endParaRPr sz="16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23" name="Google Shape;123;p16"/>
          <p:cNvSpPr txBox="1"/>
          <p:nvPr>
            <p:ph type="ctrTitle"/>
          </p:nvPr>
        </p:nvSpPr>
        <p:spPr>
          <a:xfrm>
            <a:off x="1524000" y="801832"/>
            <a:ext cx="91440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latin typeface="Playfair Display"/>
                <a:ea typeface="Playfair Display"/>
                <a:cs typeface="Playfair Display"/>
                <a:sym typeface="Playfair Display"/>
              </a:rPr>
              <a:t>What makes it interesting?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806450" y="1494414"/>
            <a:ext cx="10579200" cy="4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06450" y="1773957"/>
            <a:ext cx="85224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Interactivity: Users influence the generated content based on mood and intent.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Multi-modal AI: Combining music generation, generative art, and real-time input processing.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Human-AI Collaboration: Users guide AI instead of just consuming predefined media.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User Personalization: System can be tuned to learn a specific user’s likes and dislikes</a:t>
            </a:r>
            <a:endParaRPr/>
          </a:p>
        </p:txBody>
      </p:sp>
      <p:pic>
        <p:nvPicPr>
          <p:cNvPr descr="A black background with a black square&#10;&#10;AI-generated content may be incorrect.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9089" y="1840176"/>
            <a:ext cx="738911" cy="738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a black square&#10;&#10;AI-generated content may be incorrect.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61024" y="2828909"/>
            <a:ext cx="887004" cy="887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brain with a circuit&#10;&#10;AI-generated content may be incorrect.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44148" y="4044218"/>
            <a:ext cx="639680" cy="639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a black square&#10;&#10;AI-generated content may be incorrect.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80678" y="4611696"/>
            <a:ext cx="1708727" cy="170872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06450" y="6320423"/>
            <a:ext cx="10579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806450" y="1454625"/>
            <a:ext cx="10579200" cy="436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Josefin Sans"/>
              <a:buChar char="●"/>
            </a:pPr>
            <a:r>
              <a:rPr lang="en-US" sz="2000">
                <a:latin typeface="Josefin Sans"/>
                <a:ea typeface="Josefin Sans"/>
                <a:cs typeface="Josefin Sans"/>
                <a:sym typeface="Josefin Sans"/>
              </a:rPr>
              <a:t>Multimodal emotional cues enhance perception and processing efficiency [1].</a:t>
            </a:r>
            <a:endParaRPr sz="20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Josefin Sans"/>
              <a:buChar char="●"/>
            </a:pPr>
            <a:r>
              <a:rPr lang="en-US" sz="2000">
                <a:latin typeface="Josefin Sans"/>
                <a:ea typeface="Josefin Sans"/>
                <a:cs typeface="Josefin Sans"/>
                <a:sym typeface="Josefin Sans"/>
              </a:rPr>
              <a:t>The link between paintings and music in emotional expression has been studied through AI-driven music generation [2].</a:t>
            </a:r>
            <a:br>
              <a:rPr lang="en-US" sz="2000">
                <a:latin typeface="Josefin Sans"/>
                <a:ea typeface="Josefin Sans"/>
                <a:cs typeface="Josefin Sans"/>
                <a:sym typeface="Josefin Sans"/>
              </a:rPr>
            </a:br>
            <a:endParaRPr sz="20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Josefin Sans"/>
              <a:buChar char="●"/>
            </a:pPr>
            <a:r>
              <a:rPr lang="en-US" sz="2000">
                <a:latin typeface="Josefin Sans"/>
                <a:ea typeface="Josefin Sans"/>
                <a:cs typeface="Josefin Sans"/>
                <a:sym typeface="Josefin Sans"/>
              </a:rPr>
              <a:t>AI-driven text-to-video generation enhances music visualization by mapping textual descriptions to dynamic visuals [3].</a:t>
            </a:r>
            <a:endParaRPr sz="20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A. B. M. Gerdes, M. J. Wieser, and G. W. Alpers, “Emotional pictures and sounds: A review of multimodal interactions of emotion cues in multiple domains,” Frontiers in Psychology, vol. 5, p. 1351, Nov. 2014.[Online]. Available: </a:t>
            </a:r>
            <a:r>
              <a:rPr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Frontiers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[2]T. Hisariya, H. Zhang, and J. Liang, "Bridging Paintings and Music – Exploring Emotion Based Music Generation Through Paintings," arXiv preprint arXiv:2409.07827, Sep. 12, 2024. [Online]. Available: </a:t>
            </a:r>
            <a:r>
              <a:rPr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arxiv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[3]V. Liu, T. Long, N. Raw, and L. Chilton, "Generative Disco: Text-to-Video Generation for Music Visualization," arXiv:2304.08551, Sep. 28, 2023. [Online]. Available: </a:t>
            </a:r>
            <a:r>
              <a:rPr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arxiv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04850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137" name="Google Shape;137;p17"/>
          <p:cNvCxnSpPr/>
          <p:nvPr/>
        </p:nvCxnSpPr>
        <p:spPr>
          <a:xfrm>
            <a:off x="806450" y="6604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17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 Presentation</a:t>
            </a:r>
            <a:endParaRPr/>
          </a:p>
        </p:txBody>
      </p:sp>
      <p:sp>
        <p:nvSpPr>
          <p:cNvPr id="139" name="Google Shape;139;p17"/>
          <p:cNvSpPr txBox="1"/>
          <p:nvPr>
            <p:ph type="ctrTitle"/>
          </p:nvPr>
        </p:nvSpPr>
        <p:spPr>
          <a:xfrm>
            <a:off x="1524000" y="801832"/>
            <a:ext cx="91440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latin typeface="Playfair Display"/>
                <a:ea typeface="Playfair Display"/>
                <a:cs typeface="Playfair Display"/>
                <a:sym typeface="Playfair Display"/>
              </a:rPr>
              <a:t>Related Work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40" name="Google Shape;140;p17"/>
          <p:cNvCxnSpPr/>
          <p:nvPr/>
        </p:nvCxnSpPr>
        <p:spPr>
          <a:xfrm>
            <a:off x="806450" y="60706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17"/>
          <p:cNvSpPr txBox="1"/>
          <p:nvPr/>
        </p:nvSpPr>
        <p:spPr>
          <a:xfrm>
            <a:off x="806450" y="6320423"/>
            <a:ext cx="105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/>
        </p:nvSpPr>
        <p:spPr>
          <a:xfrm>
            <a:off x="704850" y="291068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147" name="Google Shape;147;p18"/>
          <p:cNvCxnSpPr/>
          <p:nvPr/>
        </p:nvCxnSpPr>
        <p:spPr>
          <a:xfrm>
            <a:off x="806450" y="60706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18"/>
          <p:cNvCxnSpPr/>
          <p:nvPr/>
        </p:nvCxnSpPr>
        <p:spPr>
          <a:xfrm>
            <a:off x="806450" y="6604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18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 Presentation</a:t>
            </a:r>
            <a:endParaRPr sz="16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50" name="Google Shape;150;p18"/>
          <p:cNvSpPr txBox="1"/>
          <p:nvPr>
            <p:ph type="ctrTitle"/>
          </p:nvPr>
        </p:nvSpPr>
        <p:spPr>
          <a:xfrm>
            <a:off x="1524000" y="801832"/>
            <a:ext cx="9144000" cy="550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latin typeface="Playfair Display"/>
                <a:ea typeface="Playfair Display"/>
                <a:cs typeface="Playfair Display"/>
                <a:sym typeface="Playfair Display"/>
              </a:rPr>
              <a:t>Hypothesis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806450" y="1494414"/>
            <a:ext cx="10579100" cy="440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06450" y="1531853"/>
            <a:ext cx="106806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Main Hypothesis: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AI-generated </a:t>
            </a:r>
            <a:r>
              <a:rPr b="0" i="0" lang="en-US" sz="28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personalized </a:t>
            </a:r>
            <a:r>
              <a:rPr b="0" i="0" lang="en-US" sz="28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audio-visual experience enhances user engagement and emotional impact compared to static media.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Sub-Hypotheses: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Emotion-driven generative content can lead to deeper user immersion.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Interactive elements can increase perceived control and satisfaction.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06450" y="6320423"/>
            <a:ext cx="10579100" cy="338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704850" y="291068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159" name="Google Shape;159;p19"/>
          <p:cNvCxnSpPr/>
          <p:nvPr/>
        </p:nvCxnSpPr>
        <p:spPr>
          <a:xfrm>
            <a:off x="806450" y="60706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" name="Google Shape;160;p19"/>
          <p:cNvCxnSpPr/>
          <p:nvPr/>
        </p:nvCxnSpPr>
        <p:spPr>
          <a:xfrm>
            <a:off x="806450" y="6604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19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 Presentation</a:t>
            </a:r>
            <a:endParaRPr sz="16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62" name="Google Shape;162;p19"/>
          <p:cNvSpPr txBox="1"/>
          <p:nvPr>
            <p:ph type="ctrTitle"/>
          </p:nvPr>
        </p:nvSpPr>
        <p:spPr>
          <a:xfrm>
            <a:off x="1523992" y="665850"/>
            <a:ext cx="91440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200">
                <a:latin typeface="Playfair Display"/>
                <a:ea typeface="Playfair Display"/>
                <a:cs typeface="Playfair Display"/>
                <a:sym typeface="Playfair Display"/>
              </a:rPr>
              <a:t>Design</a:t>
            </a:r>
            <a:r>
              <a:rPr b="1" lang="en-US" sz="4000"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806450" y="6320423"/>
            <a:ext cx="10579100" cy="338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  <p:pic>
        <p:nvPicPr>
          <p:cNvPr id="164" name="Google Shape;164;p19" title="Untitled video - Made with Clipchamp (1).gif"/>
          <p:cNvPicPr preferRelativeResize="0"/>
          <p:nvPr/>
        </p:nvPicPr>
        <p:blipFill rotWithShape="1">
          <a:blip r:embed="rId3">
            <a:alphaModFix/>
          </a:blip>
          <a:srcRect b="6695" l="0" r="0" t="6799"/>
          <a:stretch/>
        </p:blipFill>
        <p:spPr>
          <a:xfrm>
            <a:off x="8806114" y="2203225"/>
            <a:ext cx="3202786" cy="277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450" y="1216650"/>
            <a:ext cx="8123849" cy="47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/>
        </p:nvSpPr>
        <p:spPr>
          <a:xfrm>
            <a:off x="704850" y="291068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171" name="Google Shape;171;p20"/>
          <p:cNvCxnSpPr/>
          <p:nvPr/>
        </p:nvCxnSpPr>
        <p:spPr>
          <a:xfrm>
            <a:off x="806450" y="60706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20"/>
          <p:cNvCxnSpPr/>
          <p:nvPr/>
        </p:nvCxnSpPr>
        <p:spPr>
          <a:xfrm>
            <a:off x="806450" y="6604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20"/>
          <p:cNvSpPr txBox="1"/>
          <p:nvPr/>
        </p:nvSpPr>
        <p:spPr>
          <a:xfrm>
            <a:off x="8185152" y="291068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</a:t>
            </a: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Presentation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806450" y="6320423"/>
            <a:ext cx="10579100" cy="338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  <p:sp>
        <p:nvSpPr>
          <p:cNvPr id="175" name="Google Shape;175;p20"/>
          <p:cNvSpPr txBox="1"/>
          <p:nvPr>
            <p:ph type="ctrTitle"/>
          </p:nvPr>
        </p:nvSpPr>
        <p:spPr>
          <a:xfrm>
            <a:off x="806450" y="3308350"/>
            <a:ext cx="22992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1800">
                <a:latin typeface="Playfair Display"/>
                <a:ea typeface="Playfair Display"/>
                <a:cs typeface="Playfair Display"/>
                <a:sym typeface="Playfair Display"/>
              </a:rPr>
              <a:t>TouchDesigner Pipeline</a:t>
            </a:r>
            <a:endParaRPr sz="38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76" name="Google Shape;176;p20" title="td.gif"/>
          <p:cNvPicPr preferRelativeResize="0"/>
          <p:nvPr/>
        </p:nvPicPr>
        <p:blipFill rotWithShape="1">
          <a:blip r:embed="rId3">
            <a:alphaModFix/>
          </a:blip>
          <a:srcRect b="7203" l="9637" r="12824" t="10566"/>
          <a:stretch/>
        </p:blipFill>
        <p:spPr>
          <a:xfrm>
            <a:off x="3223479" y="660400"/>
            <a:ext cx="8162072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704850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182" name="Google Shape;182;p21"/>
          <p:cNvCxnSpPr/>
          <p:nvPr/>
        </p:nvCxnSpPr>
        <p:spPr>
          <a:xfrm>
            <a:off x="806450" y="60706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" name="Google Shape;183;p21"/>
          <p:cNvCxnSpPr/>
          <p:nvPr/>
        </p:nvCxnSpPr>
        <p:spPr>
          <a:xfrm>
            <a:off x="806450" y="6604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21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</a:t>
            </a: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Presentation</a:t>
            </a:r>
            <a:endParaRPr/>
          </a:p>
        </p:txBody>
      </p:sp>
      <p:sp>
        <p:nvSpPr>
          <p:cNvPr id="185" name="Google Shape;185;p21"/>
          <p:cNvSpPr txBox="1"/>
          <p:nvPr>
            <p:ph type="ctrTitle"/>
          </p:nvPr>
        </p:nvSpPr>
        <p:spPr>
          <a:xfrm>
            <a:off x="1524000" y="801832"/>
            <a:ext cx="91440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latin typeface="Playfair Display"/>
                <a:ea typeface="Playfair Display"/>
                <a:cs typeface="Playfair Display"/>
                <a:sym typeface="Playfair Display"/>
              </a:rPr>
              <a:t>Evaluation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857150" y="1507802"/>
            <a:ext cx="10579200" cy="4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806450" y="1531830"/>
            <a:ext cx="106806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AutoNum type="arabicPeriod"/>
            </a:pP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Survey for users after using the system:</a:t>
            </a:r>
            <a:endParaRPr sz="2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406400" lvl="1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AutoNum type="alphaLcPeriod"/>
            </a:pP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Users first experienced a start-to-end + feedback demo of the project.</a:t>
            </a:r>
            <a:endParaRPr sz="2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406400" lvl="1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AutoNum type="alphaLcPeriod"/>
            </a:pP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Given a short survey to answer about their experience.</a:t>
            </a:r>
            <a:endParaRPr sz="2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406400" lvl="1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AutoNum type="alphaLcPeriod"/>
            </a:pP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5 point Likert Scale method used to present results.</a:t>
            </a:r>
            <a:endParaRPr sz="2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AutoNum type="arabicPeriod"/>
            </a:pP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Quantitative metric to check how much a user has interacted (proof of concept)</a:t>
            </a:r>
            <a:endParaRPr sz="2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806450" y="6320423"/>
            <a:ext cx="105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/>
        </p:nvSpPr>
        <p:spPr>
          <a:xfrm>
            <a:off x="704850" y="291068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194" name="Google Shape;194;p22"/>
          <p:cNvCxnSpPr/>
          <p:nvPr/>
        </p:nvCxnSpPr>
        <p:spPr>
          <a:xfrm>
            <a:off x="806450" y="60706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5" name="Google Shape;195;p22"/>
          <p:cNvCxnSpPr/>
          <p:nvPr/>
        </p:nvCxnSpPr>
        <p:spPr>
          <a:xfrm>
            <a:off x="806450" y="6604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22"/>
          <p:cNvSpPr txBox="1"/>
          <p:nvPr/>
        </p:nvSpPr>
        <p:spPr>
          <a:xfrm>
            <a:off x="8185152" y="291068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</a:t>
            </a: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Presentation</a:t>
            </a:r>
            <a:endParaRPr/>
          </a:p>
        </p:txBody>
      </p:sp>
      <p:sp>
        <p:nvSpPr>
          <p:cNvPr id="197" name="Google Shape;197;p22"/>
          <p:cNvSpPr txBox="1"/>
          <p:nvPr>
            <p:ph type="ctrTitle"/>
          </p:nvPr>
        </p:nvSpPr>
        <p:spPr>
          <a:xfrm>
            <a:off x="1524000" y="801832"/>
            <a:ext cx="9144000" cy="550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806450" y="1494414"/>
            <a:ext cx="10579100" cy="440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806450" y="1531853"/>
            <a:ext cx="106806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We could not find a good API based model for music generation. Setting up </a:t>
            </a: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the</a:t>
            </a: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MusicGen from Meta was more challenging than expected.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We wanted to create a UI for the user to interact with. Using</a:t>
            </a: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Streamlit as the UI was challenging.</a:t>
            </a:r>
            <a:endParaRPr sz="2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Char char="•"/>
            </a:pP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Setting up the pipelines in </a:t>
            </a:r>
            <a:r>
              <a:rPr lang="en-US" sz="2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TouchDesigner took longer than expected. </a:t>
            </a:r>
            <a:endParaRPr sz="2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79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806450" y="6320423"/>
            <a:ext cx="10579100" cy="338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/>
        </p:nvSpPr>
        <p:spPr>
          <a:xfrm>
            <a:off x="704850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206" name="Google Shape;206;p23"/>
          <p:cNvCxnSpPr/>
          <p:nvPr/>
        </p:nvCxnSpPr>
        <p:spPr>
          <a:xfrm>
            <a:off x="806450" y="60706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7" name="Google Shape;207;p23"/>
          <p:cNvCxnSpPr/>
          <p:nvPr/>
        </p:nvCxnSpPr>
        <p:spPr>
          <a:xfrm>
            <a:off x="806450" y="6604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8" name="Google Shape;208;p23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Project Proposal Presentation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806450" y="1494414"/>
            <a:ext cx="10579200" cy="4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806450" y="1531853"/>
            <a:ext cx="1068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806450" y="6320423"/>
            <a:ext cx="105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  <p:pic>
        <p:nvPicPr>
          <p:cNvPr id="212" name="Google Shape;212;p23" title="full demo 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" y="6"/>
            <a:ext cx="12192000" cy="6858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/>
        </p:nvSpPr>
        <p:spPr>
          <a:xfrm>
            <a:off x="704850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218" name="Google Shape;218;p24"/>
          <p:cNvCxnSpPr/>
          <p:nvPr/>
        </p:nvCxnSpPr>
        <p:spPr>
          <a:xfrm>
            <a:off x="806450" y="60706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" name="Google Shape;219;p24"/>
          <p:cNvCxnSpPr/>
          <p:nvPr/>
        </p:nvCxnSpPr>
        <p:spPr>
          <a:xfrm>
            <a:off x="806450" y="6604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24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Project Proposal Presentation</a:t>
            </a:r>
            <a:endParaRPr/>
          </a:p>
        </p:txBody>
      </p:sp>
      <p:sp>
        <p:nvSpPr>
          <p:cNvPr id="221" name="Google Shape;221;p24"/>
          <p:cNvSpPr txBox="1"/>
          <p:nvPr>
            <p:ph type="ctrTitle"/>
          </p:nvPr>
        </p:nvSpPr>
        <p:spPr>
          <a:xfrm>
            <a:off x="1524000" y="801832"/>
            <a:ext cx="91440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latin typeface="Playfair Display"/>
                <a:ea typeface="Playfair Display"/>
                <a:cs typeface="Playfair Display"/>
                <a:sym typeface="Playfair Display"/>
              </a:rPr>
              <a:t>Demo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806450" y="1494414"/>
            <a:ext cx="10579200" cy="4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806450" y="1531853"/>
            <a:ext cx="1068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806450" y="6320423"/>
            <a:ext cx="105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  <p:pic>
        <p:nvPicPr>
          <p:cNvPr id="225" name="Google Shape;225;p24" title="full demo feedback 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/>
        </p:nvSpPr>
        <p:spPr>
          <a:xfrm>
            <a:off x="704850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231" name="Google Shape;231;p25"/>
          <p:cNvCxnSpPr/>
          <p:nvPr/>
        </p:nvCxnSpPr>
        <p:spPr>
          <a:xfrm>
            <a:off x="806450" y="60706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2" name="Google Shape;232;p25"/>
          <p:cNvCxnSpPr/>
          <p:nvPr/>
        </p:nvCxnSpPr>
        <p:spPr>
          <a:xfrm>
            <a:off x="806450" y="6604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p25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Project Proposal Presentation</a:t>
            </a:r>
            <a:endParaRPr/>
          </a:p>
        </p:txBody>
      </p:sp>
      <p:sp>
        <p:nvSpPr>
          <p:cNvPr id="234" name="Google Shape;234;p25"/>
          <p:cNvSpPr txBox="1"/>
          <p:nvPr>
            <p:ph type="ctrTitle"/>
          </p:nvPr>
        </p:nvSpPr>
        <p:spPr>
          <a:xfrm>
            <a:off x="1524000" y="801832"/>
            <a:ext cx="91440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latin typeface="Playfair Display"/>
                <a:ea typeface="Playfair Display"/>
                <a:cs typeface="Playfair Display"/>
                <a:sym typeface="Playfair Display"/>
              </a:rPr>
              <a:t>Demo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806450" y="1494414"/>
            <a:ext cx="10579200" cy="4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806450" y="1531853"/>
            <a:ext cx="1068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806450" y="6320423"/>
            <a:ext cx="105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  <p:pic>
        <p:nvPicPr>
          <p:cNvPr id="238" name="Google Shape;238;p25" title="friend demo 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/>
        </p:nvSpPr>
        <p:spPr>
          <a:xfrm>
            <a:off x="704850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244" name="Google Shape;244;p26"/>
          <p:cNvCxnSpPr/>
          <p:nvPr/>
        </p:nvCxnSpPr>
        <p:spPr>
          <a:xfrm>
            <a:off x="806450" y="60706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" name="Google Shape;245;p26"/>
          <p:cNvCxnSpPr/>
          <p:nvPr/>
        </p:nvCxnSpPr>
        <p:spPr>
          <a:xfrm>
            <a:off x="806450" y="6604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6" name="Google Shape;246;p26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</a:t>
            </a: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Presentation</a:t>
            </a:r>
            <a:endParaRPr/>
          </a:p>
        </p:txBody>
      </p:sp>
      <p:sp>
        <p:nvSpPr>
          <p:cNvPr id="247" name="Google Shape;247;p26"/>
          <p:cNvSpPr txBox="1"/>
          <p:nvPr>
            <p:ph type="ctrTitle"/>
          </p:nvPr>
        </p:nvSpPr>
        <p:spPr>
          <a:xfrm>
            <a:off x="607950" y="1737550"/>
            <a:ext cx="34959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100">
                <a:latin typeface="Playfair Display"/>
                <a:ea typeface="Playfair Display"/>
                <a:cs typeface="Playfair Display"/>
                <a:sym typeface="Playfair Display"/>
              </a:rPr>
              <a:t>Potential Application of the system</a:t>
            </a:r>
            <a:endParaRPr sz="5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806450" y="6320423"/>
            <a:ext cx="105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  <p:pic>
        <p:nvPicPr>
          <p:cNvPr id="249" name="Google Shape;249;p26" title="Base Profile 2025.04.14 - 17.16.45.03.DV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850" y="2516236"/>
            <a:ext cx="2717677" cy="1698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6" title="minecraft angry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21913" y="681303"/>
            <a:ext cx="3163750" cy="177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6" title="minecraft motivated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21905" y="2489588"/>
            <a:ext cx="3163745" cy="17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 title="minecraft calm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21925" y="4297875"/>
            <a:ext cx="3163725" cy="17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4472650" y="681300"/>
            <a:ext cx="2581500" cy="5389200"/>
          </a:xfrm>
          <a:prstGeom prst="rect">
            <a:avLst/>
          </a:prstGeom>
          <a:solidFill>
            <a:srgbClr val="F7CB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 rot="-5400000">
            <a:off x="3512075" y="5117025"/>
            <a:ext cx="1290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</a:t>
            </a:r>
            <a:endParaRPr b="1" sz="2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55" name="Google Shape;255;p26"/>
          <p:cNvCxnSpPr>
            <a:stCxn id="249" idx="3"/>
            <a:endCxn id="253" idx="1"/>
          </p:cNvCxnSpPr>
          <p:nvPr/>
        </p:nvCxnSpPr>
        <p:spPr>
          <a:xfrm>
            <a:off x="3422527" y="3365504"/>
            <a:ext cx="10500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26"/>
          <p:cNvSpPr/>
          <p:nvPr/>
        </p:nvSpPr>
        <p:spPr>
          <a:xfrm>
            <a:off x="4638400" y="984463"/>
            <a:ext cx="2250000" cy="1173300"/>
          </a:xfrm>
          <a:prstGeom prst="snip1Rect">
            <a:avLst>
              <a:gd fmla="val 16667" name="adj"/>
            </a:avLst>
          </a:prstGeom>
          <a:solidFill>
            <a:srgbClr val="ABAD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Josefin Sans Medium"/>
                <a:ea typeface="Josefin Sans Medium"/>
                <a:cs typeface="Josefin Sans Medium"/>
                <a:sym typeface="Josefin Sans Medium"/>
              </a:rPr>
              <a:t>Emotion: Angry</a:t>
            </a:r>
            <a:endParaRPr sz="1600">
              <a:latin typeface="Josefin Sans Medium"/>
              <a:ea typeface="Josefin Sans Medium"/>
              <a:cs typeface="Josefin Sans Medium"/>
              <a:sym typeface="Josefin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Josefin Sans Medium"/>
                <a:ea typeface="Josefin Sans Medium"/>
                <a:cs typeface="Josefin Sans Medium"/>
                <a:sym typeface="Josefin Sans Medium"/>
              </a:rPr>
              <a:t>Intent: Venting</a:t>
            </a:r>
            <a:endParaRPr sz="16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cxnSp>
        <p:nvCxnSpPr>
          <p:cNvPr id="257" name="Google Shape;257;p26"/>
          <p:cNvCxnSpPr>
            <a:stCxn id="256" idx="0"/>
            <a:endCxn id="250" idx="1"/>
          </p:cNvCxnSpPr>
          <p:nvPr/>
        </p:nvCxnSpPr>
        <p:spPr>
          <a:xfrm>
            <a:off x="6888400" y="1571113"/>
            <a:ext cx="13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26"/>
          <p:cNvSpPr/>
          <p:nvPr/>
        </p:nvSpPr>
        <p:spPr>
          <a:xfrm>
            <a:off x="4638388" y="2792738"/>
            <a:ext cx="2250000" cy="1173300"/>
          </a:xfrm>
          <a:prstGeom prst="snip1Rect">
            <a:avLst>
              <a:gd fmla="val 16667" name="adj"/>
            </a:avLst>
          </a:prstGeom>
          <a:solidFill>
            <a:srgbClr val="ABAD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Emotion: Happy, content</a:t>
            </a:r>
            <a:endParaRPr sz="1600">
              <a:solidFill>
                <a:schemeClr val="dk1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Intent: Relax, Reflect</a:t>
            </a:r>
            <a:endParaRPr sz="16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4638400" y="4601025"/>
            <a:ext cx="2250000" cy="1173300"/>
          </a:xfrm>
          <a:prstGeom prst="snip1Rect">
            <a:avLst>
              <a:gd fmla="val 16667" name="adj"/>
            </a:avLst>
          </a:prstGeom>
          <a:solidFill>
            <a:srgbClr val="ABAD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Josefin Sans Medium"/>
                <a:ea typeface="Josefin Sans Medium"/>
                <a:cs typeface="Josefin Sans Medium"/>
                <a:sym typeface="Josefin Sans Medium"/>
              </a:rPr>
              <a:t>Emotion: Dejection, Frustration</a:t>
            </a:r>
            <a:endParaRPr sz="1600">
              <a:latin typeface="Josefin Sans Medium"/>
              <a:ea typeface="Josefin Sans Medium"/>
              <a:cs typeface="Josefin Sans Medium"/>
              <a:sym typeface="Josefin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Josefin Sans Medium"/>
                <a:ea typeface="Josefin Sans Medium"/>
                <a:cs typeface="Josefin Sans Medium"/>
                <a:sym typeface="Josefin Sans Medium"/>
              </a:rPr>
              <a:t>Intent: Feel hopeful</a:t>
            </a:r>
            <a:endParaRPr sz="16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cxnSp>
        <p:nvCxnSpPr>
          <p:cNvPr id="260" name="Google Shape;260;p26"/>
          <p:cNvCxnSpPr>
            <a:stCxn id="258" idx="0"/>
            <a:endCxn id="251" idx="1"/>
          </p:cNvCxnSpPr>
          <p:nvPr/>
        </p:nvCxnSpPr>
        <p:spPr>
          <a:xfrm>
            <a:off x="6888388" y="3379388"/>
            <a:ext cx="13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6"/>
          <p:cNvCxnSpPr>
            <a:stCxn id="259" idx="0"/>
            <a:endCxn id="252" idx="1"/>
          </p:cNvCxnSpPr>
          <p:nvPr/>
        </p:nvCxnSpPr>
        <p:spPr>
          <a:xfrm>
            <a:off x="6888400" y="5187675"/>
            <a:ext cx="13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/>
          <p:nvPr/>
        </p:nvSpPr>
        <p:spPr>
          <a:xfrm>
            <a:off x="4472650" y="0"/>
            <a:ext cx="2581500" cy="6858000"/>
          </a:xfrm>
          <a:prstGeom prst="rect">
            <a:avLst/>
          </a:prstGeom>
          <a:solidFill>
            <a:srgbClr val="F7CB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 rot="-5400000">
            <a:off x="3512075" y="5897550"/>
            <a:ext cx="1290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</a:t>
            </a:r>
            <a:endParaRPr b="1" sz="2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68" name="Google Shape;268;p27"/>
          <p:cNvCxnSpPr/>
          <p:nvPr/>
        </p:nvCxnSpPr>
        <p:spPr>
          <a:xfrm>
            <a:off x="3422650" y="3550150"/>
            <a:ext cx="10500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27"/>
          <p:cNvSpPr/>
          <p:nvPr/>
        </p:nvSpPr>
        <p:spPr>
          <a:xfrm>
            <a:off x="4638400" y="446088"/>
            <a:ext cx="2250000" cy="1173300"/>
          </a:xfrm>
          <a:prstGeom prst="snip1Rect">
            <a:avLst>
              <a:gd fmla="val 16667" name="adj"/>
            </a:avLst>
          </a:prstGeom>
          <a:solidFill>
            <a:srgbClr val="ABAD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Josefin Sans Medium"/>
                <a:ea typeface="Josefin Sans Medium"/>
                <a:cs typeface="Josefin Sans Medium"/>
                <a:sym typeface="Josefin Sans Medium"/>
              </a:rPr>
              <a:t>Emotion: Angry</a:t>
            </a:r>
            <a:endParaRPr sz="1600">
              <a:latin typeface="Josefin Sans Medium"/>
              <a:ea typeface="Josefin Sans Medium"/>
              <a:cs typeface="Josefin Sans Medium"/>
              <a:sym typeface="Josefin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Josefin Sans Medium"/>
                <a:ea typeface="Josefin Sans Medium"/>
                <a:cs typeface="Josefin Sans Medium"/>
                <a:sym typeface="Josefin Sans Medium"/>
              </a:rPr>
              <a:t>Intent: Venting</a:t>
            </a:r>
            <a:endParaRPr sz="16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cxnSp>
        <p:nvCxnSpPr>
          <p:cNvPr id="270" name="Google Shape;270;p27"/>
          <p:cNvCxnSpPr>
            <a:stCxn id="269" idx="0"/>
            <a:endCxn id="271" idx="1"/>
          </p:cNvCxnSpPr>
          <p:nvPr/>
        </p:nvCxnSpPr>
        <p:spPr>
          <a:xfrm>
            <a:off x="6888400" y="1032738"/>
            <a:ext cx="13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" name="Google Shape;272;p27"/>
          <p:cNvSpPr/>
          <p:nvPr/>
        </p:nvSpPr>
        <p:spPr>
          <a:xfrm>
            <a:off x="4638388" y="2968738"/>
            <a:ext cx="2250000" cy="1173300"/>
          </a:xfrm>
          <a:prstGeom prst="snip1Rect">
            <a:avLst>
              <a:gd fmla="val 16667" name="adj"/>
            </a:avLst>
          </a:prstGeom>
          <a:solidFill>
            <a:srgbClr val="ABAD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Emotion: Happy, content</a:t>
            </a:r>
            <a:endParaRPr sz="1600">
              <a:solidFill>
                <a:schemeClr val="dk1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Intent: Relax, Reflect</a:t>
            </a:r>
            <a:endParaRPr sz="16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4638400" y="5242925"/>
            <a:ext cx="2250000" cy="1173300"/>
          </a:xfrm>
          <a:prstGeom prst="snip1Rect">
            <a:avLst>
              <a:gd fmla="val 16667" name="adj"/>
            </a:avLst>
          </a:prstGeom>
          <a:solidFill>
            <a:srgbClr val="ABAD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Josefin Sans Medium"/>
                <a:ea typeface="Josefin Sans Medium"/>
                <a:cs typeface="Josefin Sans Medium"/>
                <a:sym typeface="Josefin Sans Medium"/>
              </a:rPr>
              <a:t>Emotion: Dejection, Frustration</a:t>
            </a:r>
            <a:endParaRPr sz="1600">
              <a:latin typeface="Josefin Sans Medium"/>
              <a:ea typeface="Josefin Sans Medium"/>
              <a:cs typeface="Josefin Sans Medium"/>
              <a:sym typeface="Josefin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Josefin Sans Medium"/>
                <a:ea typeface="Josefin Sans Medium"/>
                <a:cs typeface="Josefin Sans Medium"/>
                <a:sym typeface="Josefin Sans Medium"/>
              </a:rPr>
              <a:t>Intent: Feel hopeful</a:t>
            </a:r>
            <a:endParaRPr sz="16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cxnSp>
        <p:nvCxnSpPr>
          <p:cNvPr id="274" name="Google Shape;274;p27"/>
          <p:cNvCxnSpPr>
            <a:stCxn id="272" idx="0"/>
            <a:endCxn id="275" idx="1"/>
          </p:cNvCxnSpPr>
          <p:nvPr/>
        </p:nvCxnSpPr>
        <p:spPr>
          <a:xfrm>
            <a:off x="6888388" y="3555388"/>
            <a:ext cx="13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27"/>
          <p:cNvCxnSpPr>
            <a:stCxn id="273" idx="0"/>
            <a:endCxn id="277" idx="1"/>
          </p:cNvCxnSpPr>
          <p:nvPr/>
        </p:nvCxnSpPr>
        <p:spPr>
          <a:xfrm>
            <a:off x="6888400" y="5829575"/>
            <a:ext cx="13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8" name="Google Shape;2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75" y="2610663"/>
            <a:ext cx="3727051" cy="1889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1900" y="-41425"/>
            <a:ext cx="2626999" cy="230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1900" y="2267675"/>
            <a:ext cx="2627000" cy="2269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21900" y="4537250"/>
            <a:ext cx="2626989" cy="2305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/>
        </p:nvSpPr>
        <p:spPr>
          <a:xfrm>
            <a:off x="704850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287" name="Google Shape;287;p28"/>
          <p:cNvCxnSpPr/>
          <p:nvPr/>
        </p:nvCxnSpPr>
        <p:spPr>
          <a:xfrm>
            <a:off x="806450" y="60706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" name="Google Shape;288;p28"/>
          <p:cNvCxnSpPr/>
          <p:nvPr/>
        </p:nvCxnSpPr>
        <p:spPr>
          <a:xfrm>
            <a:off x="806450" y="660400"/>
            <a:ext cx="10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p28"/>
          <p:cNvSpPr txBox="1"/>
          <p:nvPr/>
        </p:nvSpPr>
        <p:spPr>
          <a:xfrm>
            <a:off x="8185152" y="291068"/>
            <a:ext cx="33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</a:t>
            </a: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Presentation</a:t>
            </a:r>
            <a:endParaRPr/>
          </a:p>
        </p:txBody>
      </p:sp>
      <p:sp>
        <p:nvSpPr>
          <p:cNvPr id="290" name="Google Shape;290;p28"/>
          <p:cNvSpPr txBox="1"/>
          <p:nvPr>
            <p:ph type="ctrTitle"/>
          </p:nvPr>
        </p:nvSpPr>
        <p:spPr>
          <a:xfrm>
            <a:off x="1524000" y="732777"/>
            <a:ext cx="91440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100">
                <a:latin typeface="Playfair Display"/>
                <a:ea typeface="Playfair Display"/>
                <a:cs typeface="Playfair Display"/>
                <a:sym typeface="Playfair Display"/>
              </a:rPr>
              <a:t>Survey Results</a:t>
            </a:r>
            <a:endParaRPr sz="5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806450" y="1494414"/>
            <a:ext cx="10579200" cy="4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806450" y="1531850"/>
            <a:ext cx="111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806450" y="6320423"/>
            <a:ext cx="105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  <p:pic>
        <p:nvPicPr>
          <p:cNvPr id="294" name="Google Shape;2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4850"/>
            <a:ext cx="12191998" cy="493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/>
          <p:nvPr/>
        </p:nvSpPr>
        <p:spPr>
          <a:xfrm>
            <a:off x="704850" y="291068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CS5170 – AI for HCI</a:t>
            </a:r>
            <a:endParaRPr/>
          </a:p>
        </p:txBody>
      </p:sp>
      <p:cxnSp>
        <p:nvCxnSpPr>
          <p:cNvPr id="300" name="Google Shape;300;p29"/>
          <p:cNvCxnSpPr/>
          <p:nvPr/>
        </p:nvCxnSpPr>
        <p:spPr>
          <a:xfrm>
            <a:off x="806450" y="60706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" name="Google Shape;301;p29"/>
          <p:cNvCxnSpPr/>
          <p:nvPr/>
        </p:nvCxnSpPr>
        <p:spPr>
          <a:xfrm>
            <a:off x="806450" y="660400"/>
            <a:ext cx="1057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" name="Google Shape;302;p29"/>
          <p:cNvSpPr txBox="1"/>
          <p:nvPr/>
        </p:nvSpPr>
        <p:spPr>
          <a:xfrm>
            <a:off x="8185152" y="291068"/>
            <a:ext cx="330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Final Project</a:t>
            </a: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Presentation</a:t>
            </a:r>
            <a:endParaRPr/>
          </a:p>
        </p:txBody>
      </p:sp>
      <p:sp>
        <p:nvSpPr>
          <p:cNvPr id="303" name="Google Shape;303;p29"/>
          <p:cNvSpPr txBox="1"/>
          <p:nvPr>
            <p:ph type="ctrTitle"/>
          </p:nvPr>
        </p:nvSpPr>
        <p:spPr>
          <a:xfrm>
            <a:off x="1524000" y="3074649"/>
            <a:ext cx="9144000" cy="550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806450" y="6320423"/>
            <a:ext cx="10579100" cy="338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{singh.adityav, gundewar.a, kallapur.shi, tang.yifa}@northeastern.edu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